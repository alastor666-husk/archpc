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18F04-9D54-97D4-7CD6-93FDFA834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пакетной коммутации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35EFD5-9151-CB28-B2C0-A1BEFEA1D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044C0-63B5-3756-9B1B-6F5AC34E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745" y="643463"/>
            <a:ext cx="3706762" cy="1608124"/>
          </a:xfrm>
        </p:spPr>
        <p:txBody>
          <a:bodyPr>
            <a:normAutofit fontScale="90000"/>
          </a:bodyPr>
          <a:lstStyle/>
          <a:p>
            <a:r>
              <a:rPr lang="ru-RU" dirty="0"/>
              <a:t>Почему пакетная коммутация? 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1FA3B78-31D1-F7F3-7FB4-442623F2F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3" y="530600"/>
            <a:ext cx="7617052" cy="603704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A2C0BD-122A-FDBF-81F8-52B128BD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745" y="2487409"/>
            <a:ext cx="3706762" cy="3972232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- Основа передачи данных в современной инфо-инфраструктуре
- В отличие от коммутации каналов: эффективнее, надежнее, гибче
- Цель доклада: разобрать методы, принципы работы, плюсы/минусы и сферы применения</a:t>
            </a:r>
            <a:r>
              <a:rPr lang="ru-RU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67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AC9DB-8CD5-D999-AB36-418F4D0C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15612"/>
            <a:ext cx="3771899" cy="1651000"/>
          </a:xfrm>
        </p:spPr>
        <p:txBody>
          <a:bodyPr anchor="b">
            <a:normAutofit/>
          </a:bodyPr>
          <a:lstStyle/>
          <a:p>
            <a:r>
              <a:rPr lang="ru-RU" sz="3200"/>
              <a:t>Что такое пакетная коммутация?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C3BF0F3-3564-2CC8-EB1C-1E6A86A8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6612"/>
            <a:ext cx="3771899" cy="4629482"/>
          </a:xfrm>
        </p:spPr>
        <p:txBody>
          <a:bodyPr anchor="t">
            <a:noAutofit/>
          </a:bodyPr>
          <a:lstStyle/>
          <a:p>
            <a:r>
              <a:rPr lang="ru-RU" sz="2000" dirty="0"/>
              <a:t>- Данные разбиваются на пакеты: `полезная нагрузка + служебный заголовок`
- Ключевые особенности:
  - Разделение на блоки (фиксированного/переменного размера)
  - Независимая маршрутизация каждого пакета
  - Принцип `</a:t>
            </a:r>
            <a:r>
              <a:rPr lang="ru-RU" sz="2000" dirty="0" err="1"/>
              <a:t>Store-and-Forward</a:t>
            </a:r>
            <a:r>
              <a:rPr lang="ru-RU" sz="2000" dirty="0"/>
              <a:t>` (приём → проверка → пересылка)  </a:t>
            </a:r>
            <a:endParaRPr lang="en-US" sz="20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054C4D7-0B68-6A6B-B7B3-8058B3BD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035506"/>
            <a:ext cx="5978527" cy="440916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59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25AF5-6745-980B-C647-C0BCF267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/>
          <a:lstStyle/>
          <a:p>
            <a:r>
              <a:rPr lang="ru-RU" dirty="0"/>
              <a:t>Без установления соединения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66DD6E-5614-B9F3-1646-C1B85310E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2065867"/>
            <a:ext cx="5219699" cy="4460950"/>
          </a:xfrm>
        </p:spPr>
        <p:txBody>
          <a:bodyPr>
            <a:noAutofit/>
          </a:bodyPr>
          <a:lstStyle/>
          <a:p>
            <a:r>
              <a:rPr lang="ru-RU" sz="2000" dirty="0"/>
              <a:t>- Каждый пакет обрабатывается сетью независимо
- Содержит полный адрес назначения → динамическая маршрутизация
- Особенности:
  - Пакеты могут приходить в разном порядке
  - Возможны потери/задержки
  - Сборка и контроль на стороне получателя (TCP)
- Пример: Протокол IP (основа Интернета)  </a:t>
            </a:r>
            <a:endParaRPr lang="en-US" sz="20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54D1522-C1A1-3148-0A39-96481126E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25" r="15209" b="-1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548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E27A4-B33E-6DC9-B714-F84AFF971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0"/>
            <a:ext cx="3706762" cy="1608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/>
              <a:t>С установлением соединения 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E68F90E-432B-3F58-A467-1636430B6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8" y="1297021"/>
            <a:ext cx="7664216" cy="428017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8FD241B6-42D2-5BC7-C475-0A8D08B5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0231" y="1709710"/>
            <a:ext cx="3706762" cy="5041220"/>
          </a:xfrm>
        </p:spPr>
        <p:txBody>
          <a:bodyPr>
            <a:noAutofit/>
          </a:bodyPr>
          <a:lstStyle/>
          <a:p>
            <a:r>
              <a:rPr lang="ru-RU" dirty="0"/>
              <a:t>- Предварительное создание логического пути (Виртуальный канал)
- 3 фазы: `установление → передача → разрыв`
- Короткие заголовки (только ID канала)
- Особенности:
  - Гарантированный порядок доставки
  - Меньшие задержки маршрутизации
  - Поддержка </a:t>
            </a:r>
            <a:r>
              <a:rPr lang="ru-RU" dirty="0" err="1"/>
              <a:t>QoS</a:t>
            </a:r>
            <a:r>
              <a:rPr lang="ru-RU" dirty="0"/>
              <a:t> и резервирование полосы
- Примеры: </a:t>
            </a:r>
            <a:r>
              <a:rPr lang="ru-RU" dirty="0" err="1"/>
              <a:t>Frame</a:t>
            </a:r>
            <a:r>
              <a:rPr lang="ru-RU" dirty="0"/>
              <a:t> </a:t>
            </a:r>
            <a:r>
              <a:rPr lang="ru-RU" dirty="0" err="1"/>
              <a:t>Relay</a:t>
            </a:r>
            <a:r>
              <a:rPr lang="ru-RU" dirty="0"/>
              <a:t>, ATM, X.25, MPLS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2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903C485-D52B-8831-94F2-34E205D26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306" y="277795"/>
            <a:ext cx="10446438" cy="630240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2800" b="1" dirty="0">
                <a:effectLst/>
              </a:rPr>
              <a:t>| Параметр | Дейтаграммы | Виртуальные каналы |</a:t>
            </a:r>
            <a:br>
              <a:rPr lang="ru-RU" sz="2800" b="1" dirty="0"/>
            </a:br>
            <a:r>
              <a:rPr lang="ru-RU" sz="2800" b="1" dirty="0">
                <a:effectLst/>
              </a:rPr>
              <a:t>| Соединение | Не требуется | Требуется |</a:t>
            </a:r>
            <a:br>
              <a:rPr lang="ru-RU" sz="2800" b="1" dirty="0"/>
            </a:br>
            <a:r>
              <a:rPr lang="ru-RU" sz="2800" b="1" dirty="0">
                <a:effectLst/>
              </a:rPr>
              <a:t>| Маршрут | Динамический | Фиксированный |.</a:t>
            </a:r>
            <a:br>
              <a:rPr lang="ru-RU" sz="2800" b="1" dirty="0"/>
            </a:br>
            <a:r>
              <a:rPr lang="ru-RU" sz="2800" b="1" dirty="0">
                <a:effectLst/>
              </a:rPr>
              <a:t>| Задержка | Выше | Ниже |</a:t>
            </a:r>
            <a:br>
              <a:rPr lang="ru-RU" sz="2800" b="1" dirty="0"/>
            </a:br>
            <a:r>
              <a:rPr lang="ru-RU" sz="2800" b="1" dirty="0">
                <a:effectLst/>
              </a:rPr>
              <a:t>| Порядок | Не гарантирован | Гарантирован |</a:t>
            </a:r>
            <a:br>
              <a:rPr lang="ru-RU" sz="2800" b="1" dirty="0"/>
            </a:br>
            <a:r>
              <a:rPr lang="ru-RU" sz="2800" b="1" dirty="0">
                <a:effectLst/>
              </a:rPr>
              <a:t>| Применение | </a:t>
            </a:r>
            <a:r>
              <a:rPr lang="en-US" sz="2800" b="1" dirty="0">
                <a:effectLst/>
              </a:rPr>
              <a:t>IP, Wi-Fi, Ethernet | MPLS, </a:t>
            </a:r>
            <a:r>
              <a:rPr lang="ru-RU" sz="2800" b="1" dirty="0">
                <a:effectLst/>
              </a:rPr>
              <a:t>магистральные сети | 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17621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1DD8D-0147-EEDB-18FF-39861721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ПрЕимущества</a:t>
            </a:r>
            <a:r>
              <a:rPr lang="ru-RU" dirty="0"/>
              <a:t>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588B4-A978-4206-A650-1743A0E9B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311899"/>
            <a:ext cx="5150794" cy="4279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</a:rPr>
              <a:t>Преимущества:</a:t>
            </a:r>
            <a:br>
              <a:rPr lang="ru-RU" sz="2800" dirty="0"/>
            </a:br>
            <a:r>
              <a:rPr lang="ru-RU" sz="2800" dirty="0">
                <a:effectLst/>
              </a:rPr>
              <a:t>- Эффективное использование канала (нет простоя)</a:t>
            </a:r>
            <a:br>
              <a:rPr lang="ru-RU" sz="2800" dirty="0"/>
            </a:br>
            <a:r>
              <a:rPr lang="ru-RU" sz="2800" dirty="0">
                <a:effectLst/>
              </a:rPr>
              <a:t>- Устойчивость к отказам (</a:t>
            </a:r>
            <a:r>
              <a:rPr lang="ru-RU" sz="2800" dirty="0" err="1">
                <a:effectLst/>
              </a:rPr>
              <a:t>перемаршрутизация</a:t>
            </a:r>
            <a:r>
              <a:rPr lang="ru-RU" sz="2800" dirty="0">
                <a:effectLst/>
              </a:rPr>
              <a:t>)</a:t>
            </a:r>
            <a:br>
              <a:rPr lang="ru-RU" sz="2800" dirty="0"/>
            </a:br>
            <a:r>
              <a:rPr lang="ru-RU" sz="2800" dirty="0">
                <a:effectLst/>
              </a:rPr>
              <a:t>- Поддержка разнородного трафика (данные, голос, видео)</a:t>
            </a:r>
            <a:br>
              <a:rPr lang="ru-RU" sz="2800" dirty="0"/>
            </a:br>
            <a:r>
              <a:rPr lang="ru-RU" sz="2800" dirty="0">
                <a:effectLst/>
              </a:rPr>
              <a:t>- Легкая масштабируемость  </a:t>
            </a:r>
            <a:endParaRPr lang="ru-RU" sz="28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C1FC9FD-16D2-1ADB-CCC2-908850549B3E}"/>
              </a:ext>
            </a:extLst>
          </p:cNvPr>
          <p:cNvSpPr txBox="1">
            <a:spLocks/>
          </p:cNvSpPr>
          <p:nvPr/>
        </p:nvSpPr>
        <p:spPr>
          <a:xfrm>
            <a:off x="6545094" y="2311898"/>
            <a:ext cx="5150794" cy="4279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2800" dirty="0"/>
              <a:t>- Недостатки:
- Накладные расходы (заголовки)
- Задержки и </a:t>
            </a:r>
            <a:r>
              <a:rPr lang="ru-RU" sz="2800" dirty="0" err="1"/>
              <a:t>джиттер</a:t>
            </a:r>
            <a:r>
              <a:rPr lang="ru-RU" sz="2800" dirty="0"/>
              <a:t> (критично для реального времени)
- Сложность управления и безопасности  </a:t>
            </a:r>
          </a:p>
        </p:txBody>
      </p:sp>
    </p:spTree>
    <p:extLst>
      <p:ext uri="{BB962C8B-B14F-4D97-AF65-F5344CB8AC3E}">
        <p14:creationId xmlns:p14="http://schemas.microsoft.com/office/powerpoint/2010/main" val="4143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B3EA2-8380-CCFB-F342-0A851D2E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 fontScale="90000"/>
          </a:bodyPr>
          <a:lstStyle/>
          <a:p>
            <a:r>
              <a:rPr lang="ru-RU" dirty="0"/>
              <a:t>Куда движется пакетная коммутация? 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101862C-9281-1007-1E0C-73FE0A3A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717794"/>
            <a:ext cx="6897878" cy="343169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8ED0BA71-04C0-8A32-2262-BD11216CF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6"/>
            <a:ext cx="3706762" cy="4606413"/>
          </a:xfrm>
        </p:spPr>
        <p:txBody>
          <a:bodyPr>
            <a:noAutofit/>
          </a:bodyPr>
          <a:lstStyle/>
          <a:p>
            <a:r>
              <a:rPr lang="ru-RU" sz="2000" dirty="0"/>
              <a:t>- ИИ в маршрутизации: прогноз трафика и оптимизация путей в реальном времени
- SD-WAN + MPLS: гибкое управление через SDN, абстракция от «железа»
- Подготовка к 6G: задержки `&lt;0.1 </a:t>
            </a:r>
            <a:r>
              <a:rPr lang="ru-RU" sz="2000" dirty="0" err="1"/>
              <a:t>мс</a:t>
            </a:r>
            <a:r>
              <a:rPr lang="ru-RU" sz="2000" dirty="0"/>
              <a:t>`, сверхвысокая надежность
- Новые протоколы (напр., QUIC) снижают влияние </a:t>
            </a:r>
            <a:r>
              <a:rPr lang="ru-RU" sz="2000" dirty="0" err="1"/>
              <a:t>джиттера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630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6AE9-76ED-BFF7-FDC6-BA6A044A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00767A-0E79-BA37-F71F-A28D57C92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effectLst/>
              </a:rPr>
              <a:t>Пакетная коммутация — фундамент глобальных сетей</a:t>
            </a:r>
            <a:br>
              <a:rPr lang="ru-RU" sz="2800" dirty="0"/>
            </a:br>
            <a:r>
              <a:rPr lang="ru-RU" sz="2800" dirty="0">
                <a:effectLst/>
              </a:rPr>
              <a:t>- </a:t>
            </a:r>
            <a:r>
              <a:rPr lang="en-US" sz="2800" dirty="0">
                <a:effectLst/>
              </a:rPr>
              <a:t>IP </a:t>
            </a:r>
            <a:r>
              <a:rPr lang="ru-RU" sz="2800" dirty="0">
                <a:effectLst/>
              </a:rPr>
              <a:t>обеспечивает гибкость и живучесть, ВК (</a:t>
            </a:r>
            <a:r>
              <a:rPr lang="en-US" sz="2800" dirty="0">
                <a:effectLst/>
              </a:rPr>
              <a:t>MPLS) — </a:t>
            </a:r>
            <a:r>
              <a:rPr lang="ru-RU" sz="2800" dirty="0">
                <a:effectLst/>
              </a:rPr>
              <a:t>качество обслуживания</a:t>
            </a:r>
            <a:br>
              <a:rPr lang="ru-RU" sz="2800" dirty="0"/>
            </a:br>
            <a:r>
              <a:rPr lang="ru-RU" sz="2800" dirty="0">
                <a:effectLst/>
              </a:rPr>
              <a:t>- Будущее: оптимизация под скорость, минимальные задержки и безопасность</a:t>
            </a:r>
            <a:br>
              <a:rPr lang="ru-RU" sz="2800" dirty="0"/>
            </a:br>
            <a:r>
              <a:rPr lang="ru-RU" sz="2800" dirty="0">
                <a:effectLst/>
              </a:rPr>
              <a:t>- Знание принципов необходимо для проектирования и администрирования сетей 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63434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Небесная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9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Небесная</vt:lpstr>
      <vt:lpstr>Методы пакетной коммутации</vt:lpstr>
      <vt:lpstr>Почему пакетная коммутация?  </vt:lpstr>
      <vt:lpstr>Что такое пакетная коммутация?</vt:lpstr>
      <vt:lpstr>Без установления соединения  </vt:lpstr>
      <vt:lpstr>С установлением соединения  </vt:lpstr>
      <vt:lpstr>Презентация PowerPoint</vt:lpstr>
      <vt:lpstr>ПрЕимущества И недостатки</vt:lpstr>
      <vt:lpstr>Куда движется пакетная коммутация?  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пакетной коммутации</dc:title>
  <dc:creator>Ярослав Толстухин</dc:creator>
  <cp:lastModifiedBy>Ярослав Толстухин</cp:lastModifiedBy>
  <cp:revision>2</cp:revision>
  <dcterms:created xsi:type="dcterms:W3CDTF">2026-04-26T19:08:41Z</dcterms:created>
  <dcterms:modified xsi:type="dcterms:W3CDTF">2026-04-26T19:47:49Z</dcterms:modified>
</cp:coreProperties>
</file>