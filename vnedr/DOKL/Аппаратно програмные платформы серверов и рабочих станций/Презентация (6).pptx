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EDCD2-8B5A-3A55-6CFC-1BB770094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DB826B-E889-F680-8887-B7163004B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C6CA73-36D5-9189-FA51-7BD44084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B9235-0859-5720-38FC-6D4EDDE0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5E56E3-F45A-E26B-A383-07109256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19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C1295-0A9B-46CF-1FAD-2F92D66A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4D675-C091-0404-6264-19896B455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916162-598A-CAEE-FEB1-03AF9005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F2EE2D-B439-816B-52D3-7B4B2AAA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8599-F047-6EDF-FB9F-A43C91A9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54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0E8FB-52B4-7F13-D58C-2820F47E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8EA48A-E1FD-8F06-C998-DE130A230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02AF76-7E66-1393-695E-1F36AF2D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9FE6F6-32AD-99D1-0E7F-4AF773AC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F8F644-3FAA-8381-A10B-E8C9023C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59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DED0E-674D-FAFB-779E-56CC8D0D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44E29C-EEE9-AF23-F392-2CD781274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E3B386-BAB6-C5CE-ABD0-29F067E10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289307-7A43-4E3D-0AD6-D98036F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37B9D4-E27B-08DB-35B4-570E8DE5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DFBC2E-86AC-AEA5-08BE-287C62CD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45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3B0F3-F29B-01C4-722E-EE49F99F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785EBF-1D8D-0F80-9574-611ADBB09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4E3F65-7BAA-272B-0049-2BB04F136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25D46E-B24B-0E44-F153-E72D5C7BC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044AEB-3100-C8E4-FB54-03D618831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442232-744A-C255-3135-B1A0B67D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1FF219-A296-1264-F5C5-9550B496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82EF0A-C0DC-B342-976F-0A43654B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70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058F3-F995-A350-9B08-A215AFD9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780BA4-22DD-1527-DD0A-E7B3E987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E97D87-7BBE-576B-2E13-6406EAD2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8B8830-0086-4F9A-3801-5822EFD9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24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93AB0D-1890-BCB5-1A6A-51EA5BDF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565150-356D-2B71-4698-DC9F2CE0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C1BA29-8E9C-0146-F080-CB67DAC4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46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087CE-090B-C0EB-1DF3-3F178A1E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81FC5-E834-D3E7-37DD-4E620CEAA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DD7FFC-64C9-A63F-865C-57A52447D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668F91-90C9-2B4A-1043-AABEBE1E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7D5558-66FE-EA95-E45C-83D24F9B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E60B5-3541-BFEA-519F-125272D8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07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B20F6-00BF-4214-C4E8-F508F49D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EA6442-1098-FE86-E54F-BB2188733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658416-F6D9-7D11-C620-A6B675B7B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7FDC3C-F812-C400-E577-9794D985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C10C64-4F55-605F-770A-635AA46A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F94284-4EA6-81EA-E89F-04946179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1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06D1-7B47-4849-8BB1-043FFC5B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5FD4FF-BBE1-B20D-A5BC-2EC1914B5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9B3EF2-BFC2-082E-F4FD-225C58BF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71233B-FB50-E147-F9B1-6AE300A3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61AFFE-8161-3C76-B120-F421A783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1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F03881-6B2C-A237-4DF9-CF9931E05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966C67-1484-0FDF-35B4-6E283750B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EC5D91-CBF5-9266-E3F8-C16ADF05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0E2062-C17C-FD39-D719-DC0A2CE8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7B9411-A91A-846E-E8EA-20976C37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9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F6A76C-DDD9-FC34-33C8-C855A95F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F021D1-4A25-CEDB-77E9-430B41CBA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B20F3D-612A-EFDA-BF96-89CF5B278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7FDFF-0E38-C14F-AAAE-B56A32787A2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1895F-94A5-3ACB-F7A1-928E553C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A5A51-2061-6FBA-BAB3-CCFAC8F9D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DAD5B-8A0E-744C-8FEF-EAEC50CDE0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22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jpeg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jpe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4AD06-A34F-6701-9303-9554A85FB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955" y="2275681"/>
            <a:ext cx="10550089" cy="2306637"/>
          </a:xfrm>
        </p:spPr>
        <p:txBody>
          <a:bodyPr>
            <a:normAutofit fontScale="90000"/>
          </a:bodyPr>
          <a:lstStyle/>
          <a:p>
            <a:r>
              <a:rPr lang="ru-RU" dirty="0"/>
              <a:t>Аппаратно-</a:t>
            </a:r>
            <a:r>
              <a:rPr lang="ru-RU" dirty="0" err="1"/>
              <a:t>програмнные</a:t>
            </a:r>
            <a:r>
              <a:rPr lang="ru-RU" dirty="0"/>
              <a:t> платформы серверов и рабочих станций</a:t>
            </a:r>
          </a:p>
        </p:txBody>
      </p:sp>
    </p:spTree>
    <p:extLst>
      <p:ext uri="{BB962C8B-B14F-4D97-AF65-F5344CB8AC3E}">
        <p14:creationId xmlns:p14="http://schemas.microsoft.com/office/powerpoint/2010/main" val="140846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62BBC-B397-E50E-F6EB-D06AC5ED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Апаратные</a:t>
            </a:r>
            <a:r>
              <a:rPr lang="ru-RU" dirty="0"/>
              <a:t> платформы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96B02-BDF7-06BF-7E1A-D3461B640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4968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Архитектура x86-64: </a:t>
            </a:r>
            <a:r>
              <a:rPr lang="ru-RU" dirty="0" err="1"/>
              <a:t>Intel</a:t>
            </a:r>
            <a:r>
              <a:rPr lang="ru-RU" dirty="0"/>
              <a:t> и AMD</a:t>
            </a:r>
          </a:p>
          <a:p>
            <a:r>
              <a:rPr lang="ru-RU" dirty="0"/>
              <a:t>СЕРВЕРНЫЕ ПРОЦЕССОРЫ:
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Xeon</a:t>
            </a:r>
            <a:r>
              <a:rPr lang="ru-RU" dirty="0"/>
              <a:t>, AMD EPYC
 Многопроцессорные конфигурации (2-8 сокетов)
 Большое количество ядер
 Поддержка ECC-памяти
 Инструкции для виртуализации</a:t>
            </a:r>
          </a:p>
          <a:p>
            <a:r>
              <a:rPr lang="ru-RU" dirty="0"/>
              <a:t>
ПРОЦЕССОРЫ РАБОЧИХ СТАНЦИЙ:
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Core</a:t>
            </a:r>
            <a:r>
              <a:rPr lang="ru-RU" dirty="0"/>
              <a:t> i7/i9, AMD </a:t>
            </a:r>
            <a:r>
              <a:rPr lang="ru-RU" dirty="0" err="1"/>
              <a:t>Ryzen</a:t>
            </a:r>
            <a:r>
              <a:rPr lang="ru-RU" dirty="0"/>
              <a:t>
 Высокая тактовая частота для однопоточных задач
 Специализированные серии: </a:t>
            </a:r>
            <a:r>
              <a:rPr lang="ru-RU" dirty="0" err="1"/>
              <a:t>Xeon</a:t>
            </a:r>
            <a:r>
              <a:rPr lang="ru-RU" dirty="0"/>
              <a:t> W, </a:t>
            </a:r>
            <a:r>
              <a:rPr lang="ru-RU" dirty="0" err="1"/>
              <a:t>Threadripper</a:t>
            </a:r>
            <a:r>
              <a:rPr lang="ru-RU" dirty="0"/>
              <a:t>
ТРЕНД: Рост ARM-архитектуры (</a:t>
            </a:r>
            <a:r>
              <a:rPr lang="ru-RU" dirty="0" err="1"/>
              <a:t>Ampere</a:t>
            </a:r>
            <a:r>
              <a:rPr lang="ru-RU" dirty="0"/>
              <a:t> </a:t>
            </a:r>
            <a:r>
              <a:rPr lang="ru-RU" dirty="0" err="1"/>
              <a:t>Altra</a:t>
            </a:r>
            <a:r>
              <a:rPr lang="ru-RU" dirty="0"/>
              <a:t>) и </a:t>
            </a:r>
            <a:r>
              <a:rPr lang="ru-RU" dirty="0" err="1"/>
              <a:t>Apple</a:t>
            </a:r>
            <a:r>
              <a:rPr lang="ru-RU" dirty="0"/>
              <a:t> </a:t>
            </a:r>
            <a:r>
              <a:rPr lang="ru-RU" dirty="0" err="1"/>
              <a:t>Silicon</a:t>
            </a:r>
            <a:r>
              <a:rPr lang="ru-RU" dirty="0"/>
              <a:t> в креативном сегменте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E78745-61A2-9A62-F9DB-0DC351A75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23" y="663975"/>
            <a:ext cx="2868079" cy="241662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13304E-887F-386F-909B-23863CEF5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260" y="663974"/>
            <a:ext cx="2478588" cy="24166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A96EC3-8AFA-5406-A3AE-929B3A7AF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120" y="4205643"/>
            <a:ext cx="2363125" cy="21946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9F22A-8308-2BAC-AB6D-23A108E26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168" y="4441379"/>
            <a:ext cx="2228834" cy="183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3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2917-6EDA-E7E2-1CB9-3D506FED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подсистемы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E0E1-9492-C449-667D-A78BB5C6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0407"/>
            <a:ext cx="7179750" cy="494246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Оперативная память:
  Серверы: ECC, </a:t>
            </a:r>
            <a:r>
              <a:rPr lang="ru-RU" dirty="0" err="1"/>
              <a:t>Registered</a:t>
            </a:r>
            <a:r>
              <a:rPr lang="ru-RU" dirty="0"/>
              <a:t> (исправление ошибок, объем до ТБ).
   Станции: Чаще </a:t>
            </a:r>
            <a:r>
              <a:rPr lang="ru-RU" dirty="0" err="1"/>
              <a:t>Non</a:t>
            </a:r>
            <a:r>
              <a:rPr lang="ru-RU" dirty="0"/>
              <a:t>-ECC (профи — ECC для CAD/</a:t>
            </a:r>
            <a:r>
              <a:rPr lang="ru-RU" dirty="0" err="1"/>
              <a:t>Video</a:t>
            </a:r>
            <a:r>
              <a:rPr lang="ru-RU" dirty="0"/>
              <a:t>).
Хранение данных:
    Серверы: SAS, </a:t>
            </a:r>
            <a:r>
              <a:rPr lang="ru-RU" dirty="0" err="1"/>
              <a:t>NVMe</a:t>
            </a:r>
            <a:r>
              <a:rPr lang="ru-RU" dirty="0"/>
              <a:t> U.2, обязательны RAID-контроллеры (1, 5, 6, 10).
   Станции: SATA, M.2 </a:t>
            </a:r>
            <a:r>
              <a:rPr lang="ru-RU" dirty="0" err="1"/>
              <a:t>NVMe</a:t>
            </a:r>
            <a:r>
              <a:rPr lang="ru-RU" dirty="0"/>
              <a:t>, RAID реже.
Сеть:
  Серверы: 10–100 </a:t>
            </a:r>
            <a:r>
              <a:rPr lang="ru-RU" dirty="0" err="1"/>
              <a:t>GbE</a:t>
            </a:r>
            <a:r>
              <a:rPr lang="ru-RU" dirty="0"/>
              <a:t>, </a:t>
            </a:r>
            <a:r>
              <a:rPr lang="ru-RU" dirty="0" err="1"/>
              <a:t>Teaming</a:t>
            </a:r>
            <a:r>
              <a:rPr lang="ru-RU" dirty="0"/>
              <a:t>, удаленное управление (IPMI, </a:t>
            </a:r>
            <a:r>
              <a:rPr lang="ru-RU" dirty="0" err="1"/>
              <a:t>iDRAC</a:t>
            </a:r>
            <a:r>
              <a:rPr lang="ru-RU" dirty="0"/>
              <a:t>).
  Станции: </a:t>
            </a:r>
            <a:r>
              <a:rPr lang="ru-RU" dirty="0" err="1"/>
              <a:t>Gigabit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, </a:t>
            </a:r>
            <a:r>
              <a:rPr lang="ru-RU" dirty="0" err="1"/>
              <a:t>Wi-Fi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F05B00-E7BC-0861-E74F-F374867E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129" y="363360"/>
            <a:ext cx="3336046" cy="32217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EE61C1-8D2B-86A5-BBAF-1C24790E4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88" y="3742120"/>
            <a:ext cx="4022232" cy="25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8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B4FD8-5323-BF84-7D5D-B94F46B4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92" y="319186"/>
            <a:ext cx="10515600" cy="1325563"/>
          </a:xfrm>
        </p:spPr>
        <p:txBody>
          <a:bodyPr/>
          <a:lstStyle/>
          <a:p>
            <a:r>
              <a:rPr lang="ru-RU" dirty="0"/>
              <a:t>Сеть и форм-факторы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899401-7152-3705-7EF8-8D18B238E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6372"/>
            <a:ext cx="8193785" cy="4351338"/>
          </a:xfrm>
        </p:spPr>
        <p:txBody>
          <a:bodyPr>
            <a:normAutofit/>
          </a:bodyPr>
          <a:lstStyle/>
          <a:p>
            <a:r>
              <a:rPr lang="ru-RU" dirty="0"/>
              <a:t>Сеть:
Серверы: </a:t>
            </a:r>
            <a:r>
              <a:rPr lang="ru-RU" dirty="0" err="1"/>
              <a:t>Многопортовые</a:t>
            </a:r>
            <a:r>
              <a:rPr lang="ru-RU" dirty="0"/>
              <a:t> карты (10–100 </a:t>
            </a:r>
            <a:r>
              <a:rPr lang="ru-RU" dirty="0" err="1"/>
              <a:t>GbE</a:t>
            </a:r>
            <a:r>
              <a:rPr lang="ru-RU" dirty="0"/>
              <a:t>), </a:t>
            </a:r>
            <a:r>
              <a:rPr lang="ru-RU" dirty="0" err="1"/>
              <a:t>Teaming</a:t>
            </a:r>
            <a:r>
              <a:rPr lang="ru-RU" dirty="0"/>
              <a:t>, удаленное управление (IPMI, </a:t>
            </a:r>
            <a:r>
              <a:rPr lang="ru-RU" dirty="0" err="1"/>
              <a:t>iDRAC</a:t>
            </a:r>
            <a:r>
              <a:rPr lang="ru-RU" dirty="0"/>
              <a:t>).
Рабочие станции: </a:t>
            </a:r>
            <a:r>
              <a:rPr lang="ru-RU" dirty="0" err="1"/>
              <a:t>Gigabit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или </a:t>
            </a:r>
            <a:r>
              <a:rPr lang="ru-RU" dirty="0" err="1"/>
              <a:t>Wi-Fi</a:t>
            </a:r>
            <a:r>
              <a:rPr lang="ru-RU" dirty="0"/>
              <a:t>.
Форм-факторы:
 Серверы: Стоечные (1U-4U), лезвийные (</a:t>
            </a:r>
            <a:r>
              <a:rPr lang="ru-RU" dirty="0" err="1"/>
              <a:t>Blade</a:t>
            </a:r>
            <a:r>
              <a:rPr lang="ru-RU" dirty="0"/>
              <a:t>). Оптимизация под шкафы.
Рабочие станции: </a:t>
            </a:r>
            <a:r>
              <a:rPr lang="ru-RU" dirty="0" err="1"/>
              <a:t>Tower</a:t>
            </a:r>
            <a:r>
              <a:rPr lang="ru-RU" dirty="0"/>
              <a:t> (башня), компактные корпуса. Важна эргономика и шум.</a:t>
            </a:r>
          </a:p>
        </p:txBody>
      </p:sp>
    </p:spTree>
    <p:extLst>
      <p:ext uri="{BB962C8B-B14F-4D97-AF65-F5344CB8AC3E}">
        <p14:creationId xmlns:p14="http://schemas.microsoft.com/office/powerpoint/2010/main" val="397894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9BDDD-9E1B-555B-A299-6BFE0F48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263AEF-F845-210B-D2EA-965DDB7B0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8724384" cy="4351338"/>
          </a:xfrm>
        </p:spPr>
        <p:txBody>
          <a:bodyPr/>
          <a:lstStyle/>
          <a:p>
            <a:r>
              <a:rPr lang="ru-RU" dirty="0"/>
              <a:t>Серверные ОС:
 </a:t>
            </a:r>
            <a:r>
              <a:rPr lang="ru-RU" dirty="0" err="1"/>
              <a:t>Linux</a:t>
            </a:r>
            <a:r>
              <a:rPr lang="ru-RU" dirty="0"/>
              <a:t> (RHEL, </a:t>
            </a:r>
            <a:r>
              <a:rPr lang="ru-RU" dirty="0" err="1"/>
              <a:t>Ubuntu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, </a:t>
            </a:r>
            <a:r>
              <a:rPr lang="ru-RU" dirty="0" err="1"/>
              <a:t>Debian</a:t>
            </a:r>
            <a:r>
              <a:rPr lang="ru-RU" dirty="0"/>
              <a:t>): Доминируют в вебе и облаках. Стабильность, без GUI.
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: Корпоративный сегмент (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, файловые серверы).
ОС рабочих станций:
 </a:t>
            </a:r>
            <a:r>
              <a:rPr lang="ru-RU" dirty="0" err="1"/>
              <a:t>Windows</a:t>
            </a:r>
            <a:r>
              <a:rPr lang="ru-RU" dirty="0"/>
              <a:t> 10/11 </a:t>
            </a:r>
            <a:r>
              <a:rPr lang="ru-RU" dirty="0" err="1"/>
              <a:t>Pro</a:t>
            </a:r>
            <a:r>
              <a:rPr lang="ru-RU" dirty="0"/>
              <a:t>: Офисный стандарт.
   </a:t>
            </a:r>
            <a:r>
              <a:rPr lang="ru-RU" dirty="0" err="1"/>
              <a:t>Linux</a:t>
            </a:r>
            <a:r>
              <a:rPr lang="ru-RU" dirty="0"/>
              <a:t> </a:t>
            </a:r>
            <a:r>
              <a:rPr lang="ru-RU" dirty="0" err="1"/>
              <a:t>Desktop</a:t>
            </a:r>
            <a:r>
              <a:rPr lang="ru-RU" dirty="0"/>
              <a:t>: Для разработчиков и инженеров.
    </a:t>
            </a:r>
            <a:r>
              <a:rPr lang="ru-RU" dirty="0" err="1"/>
              <a:t>macOS</a:t>
            </a:r>
            <a:r>
              <a:rPr lang="ru-RU" dirty="0"/>
              <a:t>: Дизайн, видео, экосистема </a:t>
            </a:r>
            <a:r>
              <a:rPr lang="ru-RU" dirty="0" err="1"/>
              <a:t>Apple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2BE500-5D05-3C8B-FDED-49200C323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384" y="317773"/>
            <a:ext cx="1436640" cy="18342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D9DF23-ECE1-510C-EBD4-EA21A7421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024" y="2267366"/>
            <a:ext cx="1621947" cy="19465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6BB583-0F41-8054-2FC8-8C355EC09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138" y="4329197"/>
            <a:ext cx="2346018" cy="23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6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19F25-5B08-C621-E723-95D94C31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Виртуализация и Управление ею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8B5D41-D05B-F749-DA6C-3006C5566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Виртуализация
 Серверы: Гипервизоры (V</a:t>
            </a:r>
            <a:r>
              <a:rPr lang="en-US" dirty="0"/>
              <a:t>m</a:t>
            </a:r>
            <a:r>
              <a:rPr lang="ru-RU" dirty="0" err="1"/>
              <a:t>ware</a:t>
            </a:r>
            <a:r>
              <a:rPr lang="ru-RU" dirty="0"/>
              <a:t> </a:t>
            </a:r>
            <a:r>
              <a:rPr lang="ru-RU" dirty="0" err="1"/>
              <a:t>ESXi</a:t>
            </a:r>
            <a:r>
              <a:rPr lang="ru-RU" dirty="0"/>
              <a:t>, </a:t>
            </a:r>
            <a:r>
              <a:rPr lang="ru-RU" dirty="0" err="1"/>
              <a:t>Hyper</a:t>
            </a:r>
            <a:r>
              <a:rPr lang="ru-RU" dirty="0"/>
              <a:t>-V, KVM), Контейнеры (</a:t>
            </a:r>
            <a:r>
              <a:rPr lang="ru-RU" dirty="0" err="1"/>
              <a:t>Docker</a:t>
            </a:r>
            <a:r>
              <a:rPr lang="ru-RU" dirty="0"/>
              <a:t>, </a:t>
            </a:r>
            <a:r>
              <a:rPr lang="ru-RU" dirty="0" err="1"/>
              <a:t>Kubernetes</a:t>
            </a:r>
            <a:r>
              <a:rPr lang="ru-RU" dirty="0"/>
              <a:t>).
 Рабочие станции: Локальные VM (</a:t>
            </a:r>
            <a:r>
              <a:rPr lang="ru-RU" dirty="0" err="1"/>
              <a:t>VirtualBox</a:t>
            </a:r>
            <a:r>
              <a:rPr lang="ru-RU" dirty="0"/>
              <a:t>, V</a:t>
            </a:r>
            <a:r>
              <a:rPr lang="en-US" dirty="0"/>
              <a:t>m</a:t>
            </a:r>
            <a:r>
              <a:rPr lang="ru-RU" dirty="0" err="1"/>
              <a:t>ware</a:t>
            </a:r>
            <a:r>
              <a:rPr lang="ru-RU" dirty="0"/>
              <a:t> </a:t>
            </a:r>
            <a:r>
              <a:rPr lang="ru-RU" dirty="0" err="1"/>
              <a:t>Workstation</a:t>
            </a:r>
            <a:r>
              <a:rPr lang="ru-RU" dirty="0"/>
              <a:t>) для тестов.
Управление
 Серверы: Удаленное администрирование (IPMI, </a:t>
            </a:r>
            <a:r>
              <a:rPr lang="ru-RU" dirty="0" err="1"/>
              <a:t>Redfish</a:t>
            </a:r>
            <a:r>
              <a:rPr lang="ru-RU" dirty="0"/>
              <a:t>) даже при выключенной ОС.
 Рабочие станции: Локальное управление или доменные политики (</a:t>
            </a:r>
            <a:r>
              <a:rPr lang="ru-RU" dirty="0" err="1"/>
              <a:t>Group</a:t>
            </a:r>
            <a:r>
              <a:rPr lang="ru-RU" dirty="0"/>
              <a:t> </a:t>
            </a:r>
            <a:r>
              <a:rPr lang="ru-RU" dirty="0" err="1"/>
              <a:t>Policy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9915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AE56A-1432-5D97-7586-AF3F80AC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Отличия Серверов от Рабочей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6E2B9-33CA-3891-68D8-76E68AF9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9583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effectLst/>
              </a:rPr>
              <a:t>Сервер:</a:t>
            </a:r>
          </a:p>
          <a:p>
            <a:r>
              <a:rPr lang="ru-RU" dirty="0">
                <a:effectLst/>
              </a:rPr>
              <a:t> Схема «Запрос — Ответ». </a:t>
            </a:r>
          </a:p>
          <a:p>
            <a:r>
              <a:rPr lang="ru-RU" dirty="0">
                <a:effectLst/>
              </a:rPr>
              <a:t>Работа 24/7, отказоустойчивость.</a:t>
            </a:r>
          </a:p>
          <a:p>
            <a:r>
              <a:rPr lang="ru-RU" dirty="0">
                <a:effectLst/>
              </a:rPr>
              <a:t>Сотни пользовательских сессий.</a:t>
            </a:r>
          </a:p>
          <a:p>
            <a:r>
              <a:rPr lang="ru-RU" dirty="0">
                <a:effectLst/>
              </a:rPr>
              <a:t>Масштабируемость и защита данных (</a:t>
            </a:r>
            <a:r>
              <a:rPr lang="ru-RU" dirty="0" err="1">
                <a:effectLst/>
              </a:rPr>
              <a:t>снапшоты</a:t>
            </a:r>
            <a:r>
              <a:rPr lang="ru-RU" dirty="0">
                <a:effectLst/>
              </a:rPr>
              <a:t>, репликация).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1B6F69A-1A3C-C690-B26A-22882EF06989}"/>
              </a:ext>
            </a:extLst>
          </p:cNvPr>
          <p:cNvSpPr txBox="1">
            <a:spLocks/>
          </p:cNvSpPr>
          <p:nvPr/>
        </p:nvSpPr>
        <p:spPr>
          <a:xfrm>
            <a:off x="7717424" y="1825625"/>
            <a:ext cx="36895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Рабочая станция:
Инструмент для одного специалиста.
Пиковая производительность (3D, CAD, видео).</a:t>
            </a:r>
          </a:p>
          <a:p>
            <a:r>
              <a:rPr lang="ru-RU" dirty="0"/>
              <a:t>Интерактивные задачи.
Упор на CPU с высокой частотой и мощную видеокарту.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C08B9B-8EBB-4C6B-73FA-A4B096B81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008" y="1381550"/>
            <a:ext cx="2172448" cy="27335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17A2A7-9EDF-9CEE-5BCB-C1A36A702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008" y="4247369"/>
            <a:ext cx="2022320" cy="26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08980-15DD-CB6A-9EF5-117F2BA9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8326"/>
            <a:ext cx="10515600" cy="1325563"/>
          </a:xfrm>
        </p:spPr>
        <p:txBody>
          <a:bodyPr/>
          <a:lstStyle/>
          <a:p>
            <a:r>
              <a:rPr lang="ru-RU" dirty="0"/>
              <a:t>Почему нельзя заменять одно другим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AA5F5F-E99B-AC00-719E-71A8D354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34" y="1837416"/>
            <a:ext cx="7592438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 РАБОЧАЯ СТАНЦИЯ КАК СЕРВЕР — РИСКИ:
Отсутствие резервирования питания и дисков
 Ограниченный удалённый мониторинг
 Нет формализованной поддержки 24/7
 Высокий риск простоя и потери данных
 СЕРВЕР КАК РАБОЧАЯ СТАНЦИЯ — НЕЦЕЛЕСООБРАЗНО:
 Избыточная стоимость
 Шум, габариты, неудобство для пользователя
 Низкая оптимизация под интерактивные задачи</a:t>
            </a:r>
          </a:p>
          <a:p>
            <a:r>
              <a:rPr lang="ru-RU" dirty="0"/>
              <a:t>Отсутствие эргономики рабочего места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C67C1A-FB08-112B-009F-78F55AFD4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86" y="1657040"/>
            <a:ext cx="4574066" cy="453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34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8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Аппаратно-програмнные платформы серверов и рабочих станций</vt:lpstr>
      <vt:lpstr>Апаратные платформы</vt:lpstr>
      <vt:lpstr>Ключевые подсистемы</vt:lpstr>
      <vt:lpstr>Сеть и форм-факторы</vt:lpstr>
      <vt:lpstr>Ос</vt:lpstr>
      <vt:lpstr>Виртуализация и Управление ею</vt:lpstr>
      <vt:lpstr>Отличия Серверов от Рабочей станции</vt:lpstr>
      <vt:lpstr>Почему нельзя заменять одно другим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Ярослав Толстухин</dc:creator>
  <cp:lastModifiedBy>Ярослав Толстухин</cp:lastModifiedBy>
  <cp:revision>4</cp:revision>
  <dcterms:created xsi:type="dcterms:W3CDTF">2026-02-23T17:58:43Z</dcterms:created>
  <dcterms:modified xsi:type="dcterms:W3CDTF">2026-02-23T21:09:44Z</dcterms:modified>
</cp:coreProperties>
</file>